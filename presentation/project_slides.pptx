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Stock Price Prediction using Supervised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• Predicting Microsoft's next-week return with five ML frameworks</a:t>
            </a:r>
          </a:p>
          <a:p>
            <a:pPr>
              <a:spcAft>
                <a:spcPts val="800"/>
              </a:spcAft>
              <a:defRPr sz="2400"/>
            </a:pPr>
            <a:r>
              <a:t>• Team: [names]</a:t>
            </a:r>
          </a:p>
          <a:p>
            <a:pPr>
              <a:spcAft>
                <a:spcPts val="800"/>
              </a:spcAft>
              <a:defRPr sz="2400"/>
            </a:pPr>
            <a:r>
              <a:t>• [Course /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Problem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Target: MSFT weekly return, one week ahead</a:t>
            </a:r>
          </a:p>
          <a:p>
            <a:pPr>
              <a:spcAft>
                <a:spcPts val="800"/>
              </a:spcAft>
              <a:defRPr sz="2000"/>
            </a:pPr>
            <a:r>
              <a:t>• Why returns: prices are non-stationary (ADF p = 0.993), returns are stationary</a:t>
            </a:r>
          </a:p>
          <a:p>
            <a:pPr>
              <a:spcAft>
                <a:spcPts val="800"/>
              </a:spcAft>
              <a:defRPr sz="2000"/>
            </a:pPr>
            <a:r>
              <a:t>• Features: correlated assets (IBM, GOOGL, USD/JPY, GBP/USD, S&amp;P 500, Dow, VIX)</a:t>
            </a:r>
          </a:p>
          <a:p>
            <a:pPr>
              <a:spcAft>
                <a:spcPts val="800"/>
              </a:spcAft>
              <a:defRPr sz="2000"/>
            </a:pPr>
            <a:r>
              <a:t>• Compare XGBoost, Keras, fastai, TabNet, Lightning vs baselines</a:t>
            </a:r>
          </a:p>
          <a:p>
            <a:pPr>
              <a:spcAft>
                <a:spcPts val="800"/>
              </a:spcAft>
              <a:defRPr sz="2000"/>
            </a:pPr>
            <a:r>
              <a:t>• Criteria: RMSE, MAE, R², R²_OOS, direction; simplicity, transparency, efficacy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Data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Yahoo Finance, daily closes 2010 to Oct 2026, 8 series</a:t>
            </a:r>
          </a:p>
          <a:p>
            <a:pPr>
              <a:spcAft>
                <a:spcPts val="800"/>
              </a:spcAft>
              <a:defRPr sz="2000"/>
            </a:pPr>
            <a:r>
              <a:t>• Aligned to MSFT trading days; forward-fill only (never back-fill)</a:t>
            </a:r>
          </a:p>
          <a:p>
            <a:pPr>
              <a:spcAft>
                <a:spcPts val="800"/>
              </a:spcAft>
              <a:defRPr sz="2000"/>
            </a:pPr>
            <a:r>
              <a:t>• 876 weekly returns; current + 4 lagged weeks = 40 features, 871 samples</a:t>
            </a:r>
          </a:p>
          <a:p>
            <a:pPr>
              <a:spcAft>
                <a:spcPts val="800"/>
              </a:spcAft>
              <a:defRPr sz="2000"/>
            </a:pPr>
            <a:r>
              <a:t>• Extension: 5 technical indicators (MA ratios, EMA ratio, momentum, volatility)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Methodology and leakage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Target shifted one week: features known at Friday close</a:t>
            </a:r>
          </a:p>
          <a:p>
            <a:pPr>
              <a:spcAft>
                <a:spcPts val="800"/>
              </a:spcAft>
              <a:defRPr sz="2000"/>
            </a:pPr>
            <a:r>
              <a:t>• Chronological 80/20 split: train 696 weeks, test 175 weeks (Jun 2023 to Oct 2026)</a:t>
            </a:r>
          </a:p>
          <a:p>
            <a:pPr>
              <a:spcAft>
                <a:spcPts val="800"/>
              </a:spcAft>
              <a:defRPr sz="2000"/>
            </a:pPr>
            <a:r>
              <a:t>• Scaler fit on training data only; TimeSeriesSplit for tuning</a:t>
            </a:r>
          </a:p>
          <a:p>
            <a:pPr>
              <a:spcAft>
                <a:spcPts val="800"/>
              </a:spcAft>
              <a:defRPr sz="2000"/>
            </a:pPr>
            <a:r>
              <a:t>• Neural nets: last 15% of training as validation, early stopping, 3 seeds averaged</a:t>
            </a:r>
          </a:p>
          <a:p>
            <a:pPr>
              <a:spcAft>
                <a:spcPts val="800"/>
              </a:spcAft>
              <a:defRPr sz="2000"/>
            </a:pPr>
            <a:r>
              <a:t>• Colab for Keras, fastai, TabNet, Lightning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EDA: returns</a:t>
            </a:r>
          </a:p>
        </p:txBody>
      </p:sp>
      <p:pic>
        <p:nvPicPr>
          <p:cNvPr id="3" name="Picture 2" descr="02_msft_return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760720" cy="1994095"/>
          </a:xfrm>
          <a:prstGeom prst="rect">
            <a:avLst/>
          </a:prstGeom>
        </p:spPr>
      </p:pic>
      <p:pic>
        <p:nvPicPr>
          <p:cNvPr id="4" name="Picture 3" descr="03_cor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486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Fat tails (excess kurtosis 3.6, Jarque-Bera p ~ 4e-104); same-week correlation with S&amp;P 500 is 0.67 but cannot be used for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EDA: predictability</a:t>
            </a:r>
          </a:p>
        </p:txBody>
      </p:sp>
      <p:pic>
        <p:nvPicPr>
          <p:cNvPr id="3" name="Picture 2" descr="06_acf_pa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400800" cy="3446585"/>
          </a:xfrm>
          <a:prstGeom prst="rect">
            <a:avLst/>
          </a:prstGeom>
        </p:spPr>
      </p:pic>
      <p:pic>
        <p:nvPicPr>
          <p:cNvPr id="4" name="Picture 3" descr="05_rolling_v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20"/>
            <a:ext cx="4846320" cy="1615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No autocorrelation in returns; volatility clusters. Best lagged feature |r| = 0.099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Models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Baselines: train mean, zero, linear regression, Ridge (alpha ~ 2,976)</a:t>
            </a:r>
          </a:p>
          <a:p>
            <a:pPr>
              <a:spcAft>
                <a:spcPts val="800"/>
              </a:spcAft>
              <a:defRPr sz="2000"/>
            </a:pPr>
            <a:r>
              <a:t>• XGBoost: default vs tuned (depth 3, 100 trees, lr 0.02, L2 = 50)</a:t>
            </a:r>
          </a:p>
          <a:p>
            <a:pPr>
              <a:spcAft>
                <a:spcPts val="800"/>
              </a:spcAft>
              <a:defRPr sz="2000"/>
            </a:pPr>
            <a:r>
              <a:t>• Keras MLP (32-16), fastai tabular, PyTorch TabNet, PyTorch Lightning MLP</a:t>
            </a:r>
          </a:p>
          <a:p>
            <a:pPr>
              <a:spcAft>
                <a:spcPts val="800"/>
              </a:spcAft>
              <a:defRPr sz="2000"/>
            </a:pPr>
            <a:r>
              <a:t>• Flash failed to install (needs numpy&lt;1.24): plain PyTorch Lightning used instead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Results: base features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R2_OOS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DirAcc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fastai tabular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0.5086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PyTorch Lightning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0.4743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0.4514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Keras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0.5257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0.5086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XGBoost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0.5429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Train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0.5200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Zero forecast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0.4800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TabNet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0.5029</a:t>
                      </a:r>
                    </a:p>
                  </a:txBody>
                  <a:tcPr/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XGBoost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0.4914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Model comparison</a:t>
            </a:r>
          </a:p>
        </p:txBody>
      </p:sp>
      <p:pic>
        <p:nvPicPr>
          <p:cNvPr id="3" name="Picture 2" descr="19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RMSE spread of only 0.0007 (excl. default XGBoost): no clear winner</a:t>
            </a:r>
          </a:p>
          <a:p>
            <a:pPr>
              <a:spcAft>
                <a:spcPts val="800"/>
              </a:spcAft>
              <a:defRPr sz="2000"/>
            </a:pPr>
            <a:r>
              <a:t>• Best R²_OOS is 0.023; direction accuracy ~ 52% baseline, not beaten significantly</a:t>
            </a:r>
          </a:p>
          <a:p>
            <a:pPr>
              <a:spcAft>
                <a:spcPts val="800"/>
              </a:spcAft>
              <a:defRPr sz="2000"/>
            </a:pPr>
            <a:r>
              <a:t>• Default XGBoost overfits (R² -0.08); regularization fixes it</a:t>
            </a:r>
          </a:p>
          <a:p>
            <a:pPr>
              <a:spcAft>
                <a:spcPts val="800"/>
              </a:spcAft>
              <a:defRPr sz="2000"/>
            </a:pPr>
            <a:r>
              <a:t>• Technical indicators did not help consistently; TabNet flipped sign (unstable)</a:t>
            </a:r>
          </a:p>
          <a:p>
            <a:pPr>
              <a:spcAft>
                <a:spcPts val="800"/>
              </a:spcAft>
              <a:defRPr sz="2000"/>
            </a:pPr>
            <a:r>
              <a:t>• Training loss falls, validation loss flat: little signal to learn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Simplicity / Transparency / Efficacy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Simplicity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Efficacy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XGBoost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Keras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fastai tabular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TabNet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PyTorch Lightning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Scores 1 to 5 (5 = best); efficacy differences are within noise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Expected returns</a:t>
            </a:r>
          </a:p>
        </p:txBody>
      </p:sp>
      <p:pic>
        <p:nvPicPr>
          <p:cNvPr id="3" name="Picture 2" descr="20_expected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132320" cy="4011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28016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Forecasts sit near historical means (MSFT 0.43%, IBM 0.21%, GOOGL 0.44% per week)</a:t>
            </a:r>
          </a:p>
          <a:p>
            <a:pPr>
              <a:spcAft>
                <a:spcPts val="800"/>
              </a:spcAft>
              <a:defRPr sz="1700"/>
            </a:pPr>
            <a:r>
              <a:t>• IBM and GOOGL: R²_OOS ≤ 0 for all frameworks</a:t>
            </a:r>
          </a:p>
          <a:p>
            <a:pPr>
              <a:spcAft>
                <a:spcPts val="800"/>
              </a:spcAft>
              <a:defRPr sz="1700"/>
            </a:pPr>
            <a:r>
              <a:t>• Models disagree widely: use the historical mean as the anchor</a:t>
            </a:r>
          </a:p>
          <a:p>
            <a:pPr>
              <a:spcAft>
                <a:spcPts val="800"/>
              </a:spcAft>
              <a:defRPr sz="1700"/>
            </a:pPr>
            <a:r>
              <a:t>• Not investment advice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Limitations, conclusion,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Weekly MSFT returns are almost unpredictable from these features</a:t>
            </a:r>
          </a:p>
          <a:p>
            <a:pPr>
              <a:spcAft>
                <a:spcPts val="800"/>
              </a:spcAft>
              <a:defRPr sz="2000"/>
            </a:pPr>
            <a:r>
              <a:t>• Limits: single split, 2026 spikes in test set, no fundamentals/news, small samples</a:t>
            </a:r>
          </a:p>
          <a:p>
            <a:pPr>
              <a:spcAft>
                <a:spcPts val="800"/>
              </a:spcAft>
              <a:defRPr sz="2000"/>
            </a:pPr>
            <a:r>
              <a:t>• Future: walk-forward validation, news sentiment, fundamentals, volatility or direction targets, longer horizons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